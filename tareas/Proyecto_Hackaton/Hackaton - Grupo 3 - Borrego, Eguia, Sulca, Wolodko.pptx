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oppins"/>
      <p:regular r:id="rId9"/>
      <p:bold r:id="rId10"/>
      <p:italic r:id="rId11"/>
      <p:boldItalic r:id="rId12"/>
    </p:embeddedFont>
    <p:embeddedFont>
      <p:font typeface="Source Code Pro"/>
      <p:regular r:id="rId13"/>
      <p:bold r:id="rId14"/>
      <p:italic r:id="rId15"/>
      <p:boldItalic r:id="rId16"/>
    </p:embeddedFont>
    <p:embeddedFont>
      <p:font typeface="PT Sans"/>
      <p:regular r:id="rId17"/>
      <p:bold r:id="rId18"/>
      <p:italic r:id="rId19"/>
      <p:boldItalic r:id="rId20"/>
    </p:embeddedFont>
    <p:embeddedFont>
      <p:font typeface="IBM Plex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boldItalic.fntdata"/><Relationship Id="rId22" Type="http://schemas.openxmlformats.org/officeDocument/2006/relationships/font" Target="fonts/IBMPlexMono-bold.fntdata"/><Relationship Id="rId21" Type="http://schemas.openxmlformats.org/officeDocument/2006/relationships/font" Target="fonts/IBMPlexMono-regular.fntdata"/><Relationship Id="rId24" Type="http://schemas.openxmlformats.org/officeDocument/2006/relationships/font" Target="fonts/IBMPlexMono-boldItalic.fntdata"/><Relationship Id="rId23" Type="http://schemas.openxmlformats.org/officeDocument/2006/relationships/font" Target="fonts/IBMPlex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3" Type="http://schemas.openxmlformats.org/officeDocument/2006/relationships/font" Target="fonts/SourceCodePro-regular.fntdata"/><Relationship Id="rId12" Type="http://schemas.openxmlformats.org/officeDocument/2006/relationships/font" Target="fonts/Poppins-boldItalic.fntdata"/><Relationship Id="rId15" Type="http://schemas.openxmlformats.org/officeDocument/2006/relationships/font" Target="fonts/SourceCodePro-italic.fntdata"/><Relationship Id="rId14" Type="http://schemas.openxmlformats.org/officeDocument/2006/relationships/font" Target="fonts/SourceCodePro-bold.fntdata"/><Relationship Id="rId17" Type="http://schemas.openxmlformats.org/officeDocument/2006/relationships/font" Target="fonts/PTSans-regular.fntdata"/><Relationship Id="rId16" Type="http://schemas.openxmlformats.org/officeDocument/2006/relationships/font" Target="fonts/SourceCodePro-boldItalic.fntdata"/><Relationship Id="rId19" Type="http://schemas.openxmlformats.org/officeDocument/2006/relationships/font" Target="fonts/PTSans-italic.fntdata"/><Relationship Id="rId18" Type="http://schemas.openxmlformats.org/officeDocument/2006/relationships/font" Target="fonts/PT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8b9cb40a4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38b9cb40a4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¿Qué porcentaje de instituciones tiene acceso a la informática según el tipo de organización?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3f8d5470660_9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3f8d5470660_9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Las escuelas privadas equipadas muestran un comportamiento muy homogéneo y concentrado en niveles altos de graduación (mediana cercana al </a:t>
            </a:r>
            <a:r>
              <a:rPr b="1" lang="es-419">
                <a:solidFill>
                  <a:schemeClr val="dk1"/>
                </a:solidFill>
              </a:rPr>
              <a:t>85%</a:t>
            </a:r>
            <a:r>
              <a:rPr lang="es-419">
                <a:solidFill>
                  <a:schemeClr val="dk1"/>
                </a:solidFill>
              </a:rPr>
              <a:t>), con una dispersión acotada.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Las escuelas estatales equipadas alcanzan una buena mediana general (en torno al </a:t>
            </a:r>
            <a:r>
              <a:rPr b="1" lang="es-419">
                <a:solidFill>
                  <a:schemeClr val="dk1"/>
                </a:solidFill>
              </a:rPr>
              <a:t>78%</a:t>
            </a:r>
            <a:r>
              <a:rPr lang="es-419">
                <a:solidFill>
                  <a:schemeClr val="dk1"/>
                </a:solidFill>
              </a:rPr>
              <a:t>), pero exhiben una </a:t>
            </a:r>
            <a:r>
              <a:rPr b="1" lang="es-419">
                <a:solidFill>
                  <a:schemeClr val="dk1"/>
                </a:solidFill>
              </a:rPr>
              <a:t>notable dispersión</a:t>
            </a:r>
            <a:r>
              <a:rPr lang="es-419">
                <a:solidFill>
                  <a:schemeClr val="dk1"/>
                </a:solidFill>
              </a:rPr>
              <a:t> y </a:t>
            </a:r>
            <a:r>
              <a:rPr b="1" lang="es-419">
                <a:solidFill>
                  <a:schemeClr val="dk1"/>
                </a:solidFill>
              </a:rPr>
              <a:t>valores atípicos severos (</a:t>
            </a:r>
            <a:r>
              <a:rPr b="1" i="1" lang="es-419">
                <a:solidFill>
                  <a:schemeClr val="dk1"/>
                </a:solidFill>
              </a:rPr>
              <a:t>outliers</a:t>
            </a:r>
            <a:r>
              <a:rPr b="1" lang="es-419">
                <a:solidFill>
                  <a:schemeClr val="dk1"/>
                </a:solidFill>
              </a:rPr>
              <a:t>)</a:t>
            </a:r>
            <a:r>
              <a:rPr lang="es-419">
                <a:solidFill>
                  <a:schemeClr val="dk1"/>
                </a:solidFill>
              </a:rPr>
              <a:t> con caídas críticas de terminalidad (hasta el 20%-35%).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" name="Google Shape;177;p5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5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40" name="Google Shape;3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7" name="Google Shape;377;p9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8" name="Google Shape;378;p9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6" name="Google Shape;496;p13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3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3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3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3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5" name="Google Shape;505;p1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6" name="Google Shape;506;p13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7" name="Google Shape;507;p13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01" y="246011"/>
              <a:ext cx="4623164" cy="134100"/>
              <a:chOff x="6917701" y="246011"/>
              <a:chExt cx="4623164" cy="13410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01" y="24601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89" y="27615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19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19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20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21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3" name="Google Shape;9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22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5" name="Google Shape;925;p22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23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6" name="Google Shape;976;p23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23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8" name="Google Shape;978;p23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979" name="Google Shape;979;p23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58" name="Google Shape;1058;p24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24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24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3" name="Google Shape;1063;p24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4" name="Google Shape;1064;p24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3" name="Google Shape;1113;p25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25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6" name="Google Shape;1116;p25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7" name="Google Shape;1117;p25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8" name="Google Shape;1118;p25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9" name="Google Shape;1119;p25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0" name="Google Shape;1120;p25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1" name="Google Shape;1121;p25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6" name="Google Shape;1166;p26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26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26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9" name="Google Shape;1169;p26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0" name="Google Shape;1170;p26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1" name="Google Shape;1171;p26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2" name="Google Shape;1172;p26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3" name="Google Shape;1173;p26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7" name="Google Shape;1217;p27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27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p27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27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7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p27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3" name="Google Shape;1223;p27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4" name="Google Shape;1224;p27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5" name="Google Shape;1225;p27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6" name="Google Shape;1226;p27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7" name="Google Shape;1227;p27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8" name="Google Shape;1228;p27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68" name="Google Shape;1268;p28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0" name="Google Shape;1270;p28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9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2" name="Google Shape;1282;p29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83" name="Google Shape;1283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284" name="Google Shape;1284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285" name="Google Shape;1285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7" name="Google Shape;1287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288" name="Google Shape;1288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9" name="Google Shape;1289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0" name="Google Shape;1290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91" name="Google Shape;1291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2" name="Google Shape;1292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3" name="Google Shape;1293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4" name="Google Shape;1294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5" name="Google Shape;1295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6" name="Google Shape;1296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7" name="Google Shape;1297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298" name="Google Shape;1298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2" name="Google Shape;1302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03" name="Google Shape;130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4" name="Google Shape;130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05" name="Google Shape;130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6" name="Google Shape;130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7" name="Google Shape;130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8" name="Google Shape;130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9" name="Google Shape;130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0" name="Google Shape;131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11" name="Google Shape;131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2" name="Google Shape;1312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13" name="Google Shape;131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15" name="Google Shape;131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6" name="Google Shape;131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7" name="Google Shape;131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21" name="Google Shape;132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2" name="Google Shape;1322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23" name="Google Shape;1323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4" name="Google Shape;1324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25" name="Google Shape;1325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9" name="Google Shape;1329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30" name="Google Shape;1330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1" name="Google Shape;1331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2" name="Google Shape;1332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4" name="Google Shape;1334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5" name="Google Shape;1335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37" name="Google Shape;1337;p29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s-419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s-419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-419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s-419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s-419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s-419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32"/>
          <p:cNvSpPr txBox="1"/>
          <p:nvPr/>
        </p:nvSpPr>
        <p:spPr>
          <a:xfrm>
            <a:off x="-213150" y="1207150"/>
            <a:ext cx="95703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9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“</a:t>
            </a:r>
            <a:r>
              <a:rPr b="1" lang="es-419" sz="29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Análisis</a:t>
            </a:r>
            <a:r>
              <a:rPr b="1" lang="es-419" sz="29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 de instituciones </a:t>
            </a:r>
            <a:r>
              <a:rPr b="1" lang="es-419" sz="29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tecnológicas”</a:t>
            </a:r>
            <a:endParaRPr b="1" sz="29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425" name="Google Shape;142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4875" y="0"/>
            <a:ext cx="1019118" cy="12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07150" cy="12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07150" cy="12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32"/>
          <p:cNvSpPr txBox="1"/>
          <p:nvPr/>
        </p:nvSpPr>
        <p:spPr>
          <a:xfrm>
            <a:off x="1961700" y="481450"/>
            <a:ext cx="5220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4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Proyecto de datos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9" name="Google Shape;1429;p32"/>
          <p:cNvSpPr txBox="1"/>
          <p:nvPr/>
        </p:nvSpPr>
        <p:spPr>
          <a:xfrm>
            <a:off x="127025" y="2748550"/>
            <a:ext cx="6495300" cy="24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Ciencia de datos para economía y negocios</a:t>
            </a:r>
            <a:endParaRPr b="1" sz="19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2do cuatrimestre 2026</a:t>
            </a:r>
            <a:endParaRPr b="1" sz="19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Grupo 3</a:t>
            </a:r>
            <a:endParaRPr b="1" sz="19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Borrego, Agustin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Eguia Camejo, Leonardo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Sulca Aquino, Gustavo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Wolodko, Tiffany 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33"/>
          <p:cNvSpPr txBox="1"/>
          <p:nvPr/>
        </p:nvSpPr>
        <p:spPr>
          <a:xfrm>
            <a:off x="177450" y="306275"/>
            <a:ext cx="56349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¿De donde obtuvimos los datos?</a:t>
            </a:r>
            <a:endParaRPr b="1" sz="2000" u="sng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35" name="Google Shape;1435;p33"/>
          <p:cNvSpPr txBox="1"/>
          <p:nvPr/>
        </p:nvSpPr>
        <p:spPr>
          <a:xfrm>
            <a:off x="224800" y="1249038"/>
            <a:ext cx="56349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Pregunta y </a:t>
            </a:r>
            <a:r>
              <a:rPr b="1" lang="es-419" sz="2000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metodología</a:t>
            </a:r>
            <a:r>
              <a:rPr b="1" lang="es-419" sz="2000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 abordada</a:t>
            </a:r>
            <a:endParaRPr b="1" sz="2000" u="sng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36" name="Google Shape;1436;p33"/>
          <p:cNvSpPr txBox="1"/>
          <p:nvPr/>
        </p:nvSpPr>
        <p:spPr>
          <a:xfrm>
            <a:off x="536325" y="2839475"/>
            <a:ext cx="2952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…..</a:t>
            </a:r>
            <a:endParaRPr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7" name="Google Shape;14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2358600"/>
            <a:ext cx="6084525" cy="16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200" y="4181463"/>
            <a:ext cx="6686550" cy="96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9" name="Google Shape;1439;p33"/>
          <p:cNvCxnSpPr/>
          <p:nvPr/>
        </p:nvCxnSpPr>
        <p:spPr>
          <a:xfrm>
            <a:off x="536325" y="4103625"/>
            <a:ext cx="1741500" cy="611400"/>
          </a:xfrm>
          <a:prstGeom prst="bentConnector3">
            <a:avLst>
              <a:gd fmla="val 52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0" name="Google Shape;1440;p33"/>
          <p:cNvSpPr txBox="1"/>
          <p:nvPr/>
        </p:nvSpPr>
        <p:spPr>
          <a:xfrm>
            <a:off x="0" y="807563"/>
            <a:ext cx="10145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EDUCACIÓN</a:t>
            </a:r>
            <a:r>
              <a:rPr b="1" lang="es-419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&gt; Base de Datos por Escuela 2024 &gt; 2024 Base usuaria 5 - </a:t>
            </a:r>
            <a:r>
              <a:rPr b="1" lang="es-419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b="1" lang="es-419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del establecimiento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1" name="Google Shape;1441;p33"/>
          <p:cNvSpPr txBox="1"/>
          <p:nvPr/>
        </p:nvSpPr>
        <p:spPr>
          <a:xfrm>
            <a:off x="0" y="1657175"/>
            <a:ext cx="837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se distribuye la infraestructura informática en el sistema secundario y de qué manera condiciona la eficiencia de egreso escolar según el sector de gestión y ámbito? 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34"/>
          <p:cNvSpPr txBox="1"/>
          <p:nvPr>
            <p:ph type="title"/>
          </p:nvPr>
        </p:nvSpPr>
        <p:spPr>
          <a:xfrm>
            <a:off x="261575" y="214400"/>
            <a:ext cx="8520600" cy="3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020"/>
              <a:t>¿Que obtuvimos al hacer el análisis?</a:t>
            </a:r>
            <a:endParaRPr sz="2020"/>
          </a:p>
        </p:txBody>
      </p:sp>
      <p:pic>
        <p:nvPicPr>
          <p:cNvPr id="1447" name="Google Shape;1447;p34" title="grafico_laboratorios_por_se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525" y="594600"/>
            <a:ext cx="4939474" cy="28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34" title="grafico-join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0" y="3001175"/>
            <a:ext cx="4471851" cy="209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